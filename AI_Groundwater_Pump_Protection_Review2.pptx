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4" r:id="rId9"/>
    <p:sldId id="265" r:id="rId10"/>
    <p:sldId id="266" r:id="rId11"/>
    <p:sldId id="267" r:id="rId12"/>
    <p:sldId id="269" r:id="rId20"/>
    <p:sldId id="268" r:id="rId13"/>
    <p:sldId id="26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1551" autoAdjust="0"/>
  </p:normalViewPr>
  <p:slideViewPr>
    <p:cSldViewPr snapToGrid="0">
      <p:cViewPr>
        <p:scale>
          <a:sx n="66" d="100"/>
          <a:sy n="66" d="100"/>
        </p:scale>
        <p:origin x="1330" y="3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58E2E1-8886-43B2-B986-F2B06DAA2FAC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59FDF3-42B5-4A41-B75E-186C38908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858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592BF-19BE-9BF0-E2FC-07A36D054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3AB4F9-CBB3-B18D-E917-C3B0641867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F18A0-E201-1900-A139-E830DD3EA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78AE-7F97-4550-9DD8-BF69171FDC30}" type="datetime1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906B9-B1F6-B52E-2EE0-7595B1EBF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13AE1-F96E-D540-8DE1-8D903DB30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197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2F7EA-3EC9-99AF-13A9-22A3F8B2D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1419B-73DB-15DA-D2EE-0FC01B435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80259-8D20-E29B-4DC5-312C3DB01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1830E-3502-194A-88FA-DC3E0F1B3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6703C-229C-43C6-0484-38EC263AD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990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CE344-6494-09A6-A5E4-811EEE0CD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51A0E2-2B9B-B96E-A3FD-0B26BDDBE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7CE67-8E8A-4D0D-42DF-DDC842B1B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2BD8-A2C4-424B-809A-C64DDCC305D9}" type="datetime1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78C3E-C139-1FD1-979B-D71679959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2F297-889B-B694-6DD5-92F8A6AAF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14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2C89C-FEA2-11F6-7988-ADD14A7B2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5DE7B-A406-1142-36EA-1C14987402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355A2B-361E-86CB-ABBE-C510D2B22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DA5E84-A1E0-A1C4-F7E6-DA9E7B124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0F4BC-B3A4-46AF-9AEC-8478EF1369D5}" type="datetime1">
              <a:rPr lang="en-IN" smtClean="0"/>
              <a:t>12-10-2026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DDA460-54C8-F2AC-C053-53FF3FAFC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6F132A-BD40-58D2-CEEC-A1BA2B9E2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223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823BE-2514-8722-ED45-41E13E46B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BFEE3B-6ABA-1D24-97FE-717EBBC99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653C42-4C6D-988F-42A0-8639A508A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B662B4-F942-A78F-394F-74F603717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445FBE-A81E-92E1-36E3-99D1586F83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D20C02-77C2-CB2A-62F8-60B8C6262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A2993-B405-4F4D-B968-A01C27211659}" type="datetime1">
              <a:rPr lang="en-IN" smtClean="0"/>
              <a:t>12-10-2026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033241-EB08-777E-F678-5D641F649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D711ED-181F-C690-A3B3-1D82670FC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272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468B4-E355-69B3-7598-80ADF2F9C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F1AB3B-AFC6-3627-62E6-22313061F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8C8C-5FBB-4DD7-A06D-BE263480794B}" type="datetime1">
              <a:rPr lang="en-IN" smtClean="0"/>
              <a:t>12-10-2026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2C6591-48E4-480E-7965-DE9F83015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C9D68-A16A-B2D3-C8A6-B5221AF74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061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3F289A-3AD7-C11D-1594-90A35E592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D2985-06EC-459B-80C8-F6F4362A1C03}" type="datetime1">
              <a:rPr lang="en-IN" smtClean="0"/>
              <a:t>12-10-2026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252269-BBE3-199F-299B-38D4E9CC1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407FDC-B2A9-1304-047F-5808A0B6B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265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A4847-FC20-D9BF-0BDE-26EC7EF74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9C584-AC19-D7B4-9DFE-7C1BC2E1B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4A3262-CE8D-2419-DCCC-C536E9FDA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4758D6-7AF2-29C5-E0EE-3B7BE155E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7E9DA-13C6-48A4-9305-B592482DE8CE}" type="datetime1">
              <a:rPr lang="en-IN" smtClean="0"/>
              <a:t>12-10-2026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AAC7E7-68C4-7616-2DE1-0333E2C44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9EF51B-1685-66FF-0783-23584C25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6387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39D0E-3A71-7252-C837-B8281F0DE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E3D557-6893-299F-57A8-A7B173F101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CC8BA2-BB08-F4E3-5660-C7370BA56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57E1CE-C7CA-966D-8661-1E99A7DA2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E7C4B-C575-4DCF-9B63-045662930500}" type="datetime1">
              <a:rPr lang="en-IN" smtClean="0"/>
              <a:t>12-10-2026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055516-3E64-07E5-10C5-DE056657E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BA5AD5-9867-E76D-C035-2856CCFBC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017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1D7EC-16EA-5009-5D33-ABFC55F28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09EC6D-8ED5-29E9-9444-CC2D6A1CB8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ADFC6-7CEA-ABEE-94C2-870B1E657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6931C-EA1A-43DD-B3B3-66F5BA587712}" type="datetime1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FA3A5-596E-6C2A-F853-30C5DC6FB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CE6B1-CE87-B68F-9494-FA6D109F3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809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0FF105-FC99-2BCB-131F-2B902F8BA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354FD6-064F-6E12-E8DE-81EC913CD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D2109-32D1-4A0F-F903-5142A204E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9B0E1-7C95-4C20-B9C6-BA51F388E878}" type="datetime1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5353D-EEF9-CF3C-A97F-F0F0EBFA7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2F1DC-3958-BCDE-9A16-88E928E7E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35408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454249-E28B-CF91-F4A6-9762E4F38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E3D641-7C66-CA7D-30A7-7F95AC27EF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1D408-B228-838E-3E43-4304680A53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827C3E-786B-4150-9177-1C28966A2ADC}" type="datetime1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C7A69-1922-F157-900C-FF95668316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80E76-E345-1553-9664-0BCF569B55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841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9E27CD-EF84-CB3A-3D07-A315235689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7236" y="-11493"/>
            <a:ext cx="4517528" cy="1871634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8BAD67C4-20B4-E1F6-A7E7-C8C33181D0C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907459" y="1568196"/>
            <a:ext cx="8924544" cy="23637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Programme -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b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/>
              <a:t>BECE497J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IN" sz="2000" b="1" dirty="0"/>
              <a:t>Project - I</a:t>
            </a:r>
            <a:br>
              <a:rPr lang="en-IN" sz="20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Predictive Groundwater Monitoring and Intelligent Pump Protection System for Agricultural Borewells</a:t>
            </a: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68BC382C-506F-4908-6AC3-C0AA73064F47}"/>
              </a:ext>
            </a:extLst>
          </p:cNvPr>
          <p:cNvSpPr txBox="1"/>
          <p:nvPr/>
        </p:nvSpPr>
        <p:spPr>
          <a:xfrm>
            <a:off x="2609088" y="4069080"/>
            <a:ext cx="7071360" cy="21493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spc="-20" dirty="0">
                <a:latin typeface="Times New Roman"/>
                <a:cs typeface="Times New Roman"/>
              </a:rPr>
              <a:t>Team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members:</a:t>
            </a:r>
            <a:endParaRPr sz="2000" dirty="0">
              <a:latin typeface="Times New Roman"/>
              <a:cs typeface="Times New Roman"/>
            </a:endParaRPr>
          </a:p>
          <a:p>
            <a:pPr marL="149225" indent="-136525">
              <a:lnSpc>
                <a:spcPct val="100000"/>
              </a:lnSpc>
              <a:spcBef>
                <a:spcPts val="20"/>
              </a:spcBef>
              <a:buFont typeface="Times New Roman"/>
              <a:buChar char="•"/>
              <a:tabLst>
                <a:tab pos="149225" algn="l"/>
                <a:tab pos="3291840" algn="l"/>
              </a:tabLst>
            </a:pPr>
            <a:r>
              <a:rPr lang="en-IN" sz="2000" b="1" dirty="0">
                <a:latin typeface="Times New Roman"/>
                <a:cs typeface="Times New Roman"/>
              </a:rPr>
              <a:t>Harsh Gangaram Pai	(23BEC0486)</a:t>
            </a:r>
          </a:p>
          <a:p>
            <a:pPr marL="149225" indent="-136525">
              <a:lnSpc>
                <a:spcPct val="100000"/>
              </a:lnSpc>
              <a:spcBef>
                <a:spcPts val="20"/>
              </a:spcBef>
              <a:buFont typeface="Times New Roman"/>
              <a:buChar char="•"/>
              <a:tabLst>
                <a:tab pos="149225" algn="l"/>
                <a:tab pos="3291840" algn="l"/>
              </a:tabLst>
            </a:pPr>
            <a:r>
              <a:rPr lang="en-IN" sz="2000" b="1" dirty="0">
                <a:latin typeface="Times New Roman"/>
                <a:cs typeface="Times New Roman"/>
              </a:rPr>
              <a:t>Tarun Kumar	(23BEC0234)</a:t>
            </a:r>
          </a:p>
          <a:p>
            <a:pPr marL="149225" indent="-136525">
              <a:lnSpc>
                <a:spcPct val="100000"/>
              </a:lnSpc>
              <a:spcBef>
                <a:spcPts val="20"/>
              </a:spcBef>
              <a:buFont typeface="Times New Roman"/>
              <a:buChar char="•"/>
              <a:tabLst>
                <a:tab pos="149225" algn="l"/>
                <a:tab pos="3291840" algn="l"/>
              </a:tabLst>
            </a:pPr>
            <a:r>
              <a:rPr lang="en-IN" sz="2000" b="1" dirty="0">
                <a:latin typeface="Times New Roman"/>
                <a:cs typeface="Times New Roman"/>
              </a:rPr>
              <a:t>Abhishek Raghav	(23BEC0416)</a:t>
            </a:r>
          </a:p>
          <a:p>
            <a:pPr marL="149225" indent="-136525">
              <a:lnSpc>
                <a:spcPct val="100000"/>
              </a:lnSpc>
              <a:spcBef>
                <a:spcPts val="20"/>
              </a:spcBef>
              <a:buFont typeface="Times New Roman"/>
              <a:buChar char="•"/>
              <a:tabLst>
                <a:tab pos="149225" algn="l"/>
              </a:tabLst>
            </a:pPr>
            <a:endParaRPr lang="en-IN" sz="2000" b="1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dirty="0">
                <a:latin typeface="Times New Roman"/>
                <a:cs typeface="Times New Roman"/>
              </a:rPr>
              <a:t>Faculty</a:t>
            </a:r>
            <a:r>
              <a:rPr lang="en-US" sz="2000" spc="-6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guide</a:t>
            </a:r>
            <a:r>
              <a:rPr lang="en-US" sz="2000" spc="-55" dirty="0">
                <a:latin typeface="Times New Roman"/>
                <a:cs typeface="Times New Roman"/>
              </a:rPr>
              <a:t> </a:t>
            </a:r>
            <a:r>
              <a:rPr lang="en-US" sz="2000" spc="-50" dirty="0">
                <a:latin typeface="Times New Roman"/>
                <a:cs typeface="Times New Roman"/>
              </a:rPr>
              <a:t>:</a:t>
            </a:r>
            <a:endParaRPr lang="en-US"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lang="en-IN" b="1" dirty="0"/>
              <a:t>SUMIT KUMAR JINDAL</a:t>
            </a:r>
            <a:endParaRPr sz="1800" b="1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43036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CBE13-A9D6-9564-DA47-597E38E09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Approval Mail From Guide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3367C-DAD6-6E34-D21A-A981C0944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i="1" dirty="0">
              <a:highlight>
                <a:srgbClr val="FFFF00"/>
              </a:highlight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827C50-3ED3-2DB6-C227-6784C6CA9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 dirty="0"/>
              <a:t>14-10-2026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4170-792F-28F8-1C31-5F7A8D69F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SENSE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6528B-72DB-0275-6A94-33ABB5CD7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6560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8A428-04DA-E6A8-7606-5D2FE5F31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b="0">
                <a:latin typeface="Times New Roman"/>
                <a:cs typeface="Times New Roman"/>
              </a:rPr>
              <a:t>To protect agricultural borewell pumps by predicting groundwater depletion and time-to-dry, instead of reacting once a dry-run has occurred</a:t>
            </a:r>
          </a:p>
          <a:p>
            <a:r>
              <a:rPr sz="2000" b="1">
                <a:latin typeface="Times New Roman"/>
                <a:cs typeface="Times New Roman"/>
              </a:rPr>
              <a:t>Research problem: </a:t>
            </a:r>
            <a:r>
              <a:rPr sz="2000" b="0">
                <a:latin typeface="Times New Roman"/>
                <a:cs typeface="Times New Roman"/>
              </a:rPr>
              <a:t>How can an agricultural borewell pump be protected by predicting groundwater depletion, instead of reacting to a dry-run?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027305EA-516C-11F8-8A54-2BA046094A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9E6AA7-AE20-8A91-BA42-261BF76A2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14-10-2026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7FE434-77F0-B8BE-9198-66090332F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SENSE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D6A9DA-AEE9-F6FE-EFA8-06396314F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518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D95E8-8D7C-F548-8B75-23C3B2B15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DDED8F-1EBD-2E10-598E-0CA3F56F0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Conventional borewell pump protection is reactive: the pump is cut off only after dry-run conditions occur, risking motor damage, energy wastage and a shorter equipment lifespan.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The proposed system deploys an AI-based time-series forecasting model using autoregressive telemetry feature engineering that continuously learns borewell extraction patterns, water table velocity, and seasonal recharge.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It forecasts remaining water availability and time-to-dry 7 days into the future, enabling proactive pump cutoff and automated alerts before dry-run cavitation occurs, without arbitrary fixed thresholds.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</a:rPr>
              <a:t>The end-to-end pipeline is validated using 2.8 years of Central Ground Water Board (CGWB) telemetry data and a bench-top digital twin, achieving 0.27m MAE (+17.1% over baseline) for 7-day-ahead forecasting.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156C6ACB-BF9E-DB99-B99C-4896C65273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739558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3D067F-DF0A-3BD2-0B9E-C22E39B7F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14-10-2026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FD8C3-C2D0-4BBB-7FD8-43FE2C084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SENSE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9991A-41D4-F0AB-EF39-ACE70C817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3097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0AE58-8206-476A-BECC-A1ADC0EA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435FB437-6170-6BA2-1A38-A902855A3E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48056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13BC6E0-D294-E70D-8B27-13FBFEE5E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14-10-2026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F284BA2-3334-3EC1-0E81-4C9095897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SENSE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8F14EB-D02F-8EDE-87F4-A3F7E8D20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5</a:t>
            </a:fld>
            <a:endParaRPr lang="en-IN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9055279"/>
              </p:ext>
            </p:extLst>
          </p:nvPr>
        </p:nvGraphicFramePr>
        <p:xfrm>
          <a:off x="640080" y="1554480"/>
          <a:ext cx="10881360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Paper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Objective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Methodology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Pros/Cons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Findings</a:t>
                      </a:r>
                    </a:p>
                  </a:txBody>
                  <a:tcPr anchor="ctr"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Conventional reactive cutoff systems</a:t>
                      </a:r>
                    </a:p>
                  </a:txBody>
                  <a:tcPr anchor="ctr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Protect the pump from dry-run</a:t>
                      </a:r>
                    </a:p>
                  </a:txBody>
                  <a:tcPr anchor="ctr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Stop the pump once dry-run conditions have already occurred</a:t>
                      </a:r>
                    </a:p>
                  </a:txBody>
                  <a:tcPr anchor="ctr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Con: acts only after the water is gone</a:t>
                      </a:r>
                    </a:p>
                  </a:txBody>
                  <a:tcPr anchor="ctr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Motor damage, energy wastage and equipment lifespan remain at risk</a:t>
                      </a:r>
                    </a:p>
                  </a:txBody>
                  <a:tcPr anchor="ctr"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This work (proposed)</a:t>
                      </a:r>
                    </a:p>
                  </a:txBody>
                  <a:tcPr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Predict depletion and time-to-dry before dry-run</a:t>
                      </a:r>
                    </a:p>
                  </a:txBody>
                  <a:tcPr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Times New Roman"/>
                        </a:rPr>
                        <a:t>Time-series ML (Autoregressive Feature Engineering / Regression) on continuous telemetry</a:t>
                      </a:r>
                    </a:p>
                  </a:txBody>
                  <a:tcPr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Pro: proactive and self-learning, no fixed thresholds</a:t>
                      </a:r>
                    </a:p>
                  </a:txBody>
                  <a:tcPr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Times New Roman"/>
                        </a:rPr>
                        <a:t>End-to-end pipeline validated: 0.27m MAE 7-day forecast &amp; digital twin prototype</a:t>
                      </a:r>
                    </a:p>
                  </a:txBody>
                  <a:tcPr anchor="ctr"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Times New Roman"/>
                        </a:rPr>
                        <a:t>CGWB Hydrological Telemetry Systems (2023)</a:t>
                      </a:r>
                    </a:p>
                  </a:txBody>
                  <a:tcPr anchor="ctr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Times New Roman"/>
                        </a:rPr>
                        <a:t>Regional groundwater level monitoring</a:t>
                      </a:r>
                    </a:p>
                  </a:txBody>
                  <a:tcPr anchor="ctr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Times New Roman"/>
                        </a:rPr>
                        <a:t>Automated 6-hourly telemetry transmitters</a:t>
                      </a:r>
                    </a:p>
                  </a:txBody>
                  <a:tcPr anchor="ctr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Times New Roman"/>
                        </a:rPr>
                        <a:t>Pro: High-frequency data. Con: Lacks automated predictive pump cutoff</a:t>
                      </a:r>
                    </a:p>
                  </a:txBody>
                  <a:tcPr anchor="ctr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Times New Roman"/>
                        </a:rPr>
                        <a:t>Demonstrates seasonal recharge cycles; ideal for ML training</a:t>
                      </a:r>
                    </a:p>
                  </a:txBody>
                  <a:tcPr anchor="ctr"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Times New Roman"/>
                        </a:rPr>
                        <a:t>Autoregressive ML for Water Tables (2024)</a:t>
                      </a:r>
                    </a:p>
                  </a:txBody>
                  <a:tcPr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Times New Roman"/>
                        </a:rPr>
                        <a:t>Multi-day ahead water table forecasting</a:t>
                      </a:r>
                    </a:p>
                  </a:txBody>
                  <a:tcPr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Times New Roman"/>
                        </a:rPr>
                        <a:t>Lagged features &amp; regression models on telemetry</a:t>
                      </a:r>
                    </a:p>
                  </a:txBody>
                  <a:tcPr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Times New Roman"/>
                        </a:rPr>
                        <a:t>Pro: Proactive prediction. Con: Standard tree models suffer extrapolation limits</a:t>
                      </a:r>
                    </a:p>
                  </a:txBody>
                  <a:tcPr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latin typeface="Times New Roman"/>
                        </a:rPr>
                        <a:t>Linear autoregression achieves 0.27m MAE (+17.1% over baseline)</a:t>
                      </a:r>
                    </a:p>
                  </a:txBody>
                  <a:tcPr anchor="ctr"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7449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64C5E-26B3-2EE9-895A-F822E4C49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F8AC8-6380-9217-CA4C-1FBF1C25C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b="1" dirty="0">
                <a:latin typeface="Times New Roman"/>
                <a:cs typeface="Times New Roman"/>
              </a:rPr>
              <a:t>What exists: </a:t>
            </a:r>
            <a:r>
              <a:rPr sz="2000" b="0" dirty="0">
                <a:latin typeface="Times New Roman"/>
                <a:cs typeface="Times New Roman"/>
              </a:rPr>
              <a:t>Reactive cutoff systems stop the pump once dry-run conditions have already occurred.</a:t>
            </a:r>
          </a:p>
          <a:p>
            <a:r>
              <a:rPr sz="2000" b="1" dirty="0">
                <a:latin typeface="Times New Roman"/>
                <a:cs typeface="Times New Roman"/>
              </a:rPr>
              <a:t>What this work adds:</a:t>
            </a:r>
          </a:p>
          <a:p>
            <a:pPr lvl="1"/>
            <a:r>
              <a:rPr sz="1800" b="1" dirty="0">
                <a:latin typeface="Times New Roman"/>
                <a:cs typeface="Times New Roman"/>
              </a:rPr>
              <a:t>Predictive AI-based dry-run prevention: </a:t>
            </a:r>
            <a:r>
              <a:rPr sz="1800" b="0" dirty="0">
                <a:latin typeface="Times New Roman"/>
                <a:cs typeface="Times New Roman"/>
              </a:rPr>
              <a:t>forecasts depletion and time-to-dry before dry-run, enabling proactive motor protection.</a:t>
            </a:r>
          </a:p>
          <a:p>
            <a:pPr lvl="1"/>
            <a:r>
              <a:rPr sz="1800" b="1" dirty="0">
                <a:latin typeface="Times New Roman"/>
                <a:cs typeface="Times New Roman"/>
              </a:rPr>
              <a:t>Adaptive self-learning model: </a:t>
            </a:r>
            <a:r>
              <a:rPr sz="1800" b="0" dirty="0">
                <a:latin typeface="Times New Roman"/>
                <a:cs typeface="Times New Roman"/>
              </a:rPr>
              <a:t>learns borewell-specific extraction patterns, pump usage duration and water-level behavior, without fixed thresholds.</a:t>
            </a:r>
          </a:p>
          <a:p>
            <a:pPr lvl="1"/>
            <a:r>
              <a:rPr sz="1800" b="1" dirty="0">
                <a:latin typeface="Times New Roman"/>
                <a:cs typeface="Times New Roman"/>
              </a:rPr>
              <a:t>Digital twin-based prototype validation: </a:t>
            </a:r>
            <a:r>
              <a:rPr sz="1800" b="0" dirty="0">
                <a:latin typeface="Times New Roman"/>
                <a:cs typeface="Times New Roman"/>
              </a:rPr>
              <a:t>a bench-top tank and controlled pumping environment give real sensor data for training, testing and calibration before field installation.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E07AC55-BA5E-4123-39E6-B79860C6C9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430A72-466B-CBDE-2F02-635BA91A9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14-10-2026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1DDA3-7A7C-1F61-1795-3A01ED678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SENSE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E3226-1DB1-3A4D-CE37-4A2AD48EF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102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50AAC-0156-D6F5-7153-C79199994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3ADE1-559A-2DC2-A801-6A915E106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554480"/>
            <a:ext cx="10515600" cy="2743200"/>
          </a:xfrm>
        </p:spPr>
        <p:txBody>
          <a:bodyPr>
            <a:normAutofit/>
          </a:bodyPr>
          <a:lstStyle/>
          <a:p>
            <a:r>
              <a:rPr sz="2000" b="0">
                <a:latin typeface="Times New Roman"/>
                <a:cs typeface="Times New Roman"/>
              </a:rPr>
              <a:t>Monitor water level and pump usage continuously</a:t>
            </a:r>
          </a:p>
          <a:p>
            <a:r>
              <a:rPr sz="2000" b="0">
                <a:latin typeface="Times New Roman"/>
                <a:cs typeface="Times New Roman"/>
              </a:rPr>
              <a:t>Forecast remaining water and time-to-dry with a time-series machine learning model</a:t>
            </a:r>
          </a:p>
          <a:p>
            <a:r>
              <a:rPr sz="2000" b="0">
                <a:latin typeface="Times New Roman"/>
                <a:cs typeface="Times New Roman"/>
              </a:rPr>
              <a:t>Disconnect the pump automatically to prevent motor damage and reduce energy wastage</a:t>
            </a:r>
          </a:p>
          <a:p>
            <a:r>
              <a:rPr sz="2000" b="0">
                <a:latin typeface="Times New Roman"/>
                <a:cs typeface="Times New Roman"/>
              </a:rPr>
              <a:t>Validate the end-to-end pipeline on a bench-top water tank and pump setup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22BADD22-870A-4D8F-B788-CCCD5C223F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E4F0EB-E8F1-14D8-E22A-38E83F9BF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14-10-2026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8B93F-BA73-08B5-E0DD-D434FA25B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SENSE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ABF72-E9F9-626A-63CD-EA20C0714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632EBB-2D05-8D00-7F98-43CBAFAF06ED}"/>
              </a:ext>
            </a:extLst>
          </p:cNvPr>
          <p:cNvSpPr txBox="1"/>
          <p:nvPr/>
        </p:nvSpPr>
        <p:spPr>
          <a:xfrm>
            <a:off x="388061" y="3971112"/>
            <a:ext cx="115234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Identified:   Sustainable Development Goals</a:t>
            </a:r>
          </a:p>
          <a:p>
            <a:r>
              <a:rPr lang="en-GB" dirty="0"/>
              <a:t>SDG 6 (6.4): Clean Water and Sanitation - water-use efficiency and sustainable withdrawals</a:t>
            </a:r>
          </a:p>
          <a:p>
            <a:r>
              <a:rPr lang="en-GB" dirty="0"/>
              <a:t>SDG 2 (2.4): Zero Hunger - sustainable food production and resilient agricultural practices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</a:t>
            </a:r>
            <a:r>
              <a:rPr lang="en-GB" dirty="0"/>
              <a:t>SDG 7 (7.3): Affordable and Clean Energy - energy efficiency.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59624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49C0F-2490-21B4-8186-6F75540AC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5DE9EA00-8D77-8DC9-1AE3-8B6FD1AF6B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Framework/Architecture/Block Diagram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40592E-46EE-B4F2-7D01-D3568C2F6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14-10-2026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DC439-5940-84EE-247A-E3018795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SENSE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B23C8-7091-8CFB-BF2C-3A19CCA81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3017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Times New Roman"/>
                <a:cs typeface="Times New Roman"/>
              </a:rPr>
              <a:t>Inputs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600200"/>
            <a:ext cx="3017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Times New Roman"/>
                <a:cs typeface="Times New Roman"/>
              </a:rPr>
              <a:t>Outputs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011680"/>
            <a:ext cx="3017520" cy="548640"/>
          </a:xfrm>
          <a:prstGeom prst="rect">
            <a:avLst/>
          </a:prstGeom>
          <a:solidFill>
            <a:srgbClr val="DCE6F2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000000"/>
                </a:solidFill>
                <a:latin typeface="Times New Roman"/>
                <a:cs typeface="Times New Roman"/>
              </a:rPr>
              <a:t>Water level (sensor)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840480" y="2286000"/>
            <a:ext cx="822960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22960" y="2788920"/>
            <a:ext cx="3017520" cy="548640"/>
          </a:xfrm>
          <a:prstGeom prst="rect">
            <a:avLst/>
          </a:prstGeom>
          <a:solidFill>
            <a:srgbClr val="DCE6F2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000000"/>
                </a:solidFill>
                <a:latin typeface="Times New Roman"/>
                <a:cs typeface="Times New Roman"/>
              </a:rPr>
              <a:t>Pump status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40480" y="3063240"/>
            <a:ext cx="822960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822960" y="3566160"/>
            <a:ext cx="3017520" cy="548640"/>
          </a:xfrm>
          <a:prstGeom prst="rect">
            <a:avLst/>
          </a:prstGeom>
          <a:solidFill>
            <a:srgbClr val="DCE6F2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000000"/>
                </a:solidFill>
                <a:latin typeface="Times New Roman"/>
                <a:cs typeface="Times New Roman"/>
              </a:rPr>
              <a:t>Pump usage time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840480" y="3840480"/>
            <a:ext cx="822960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822960" y="4343400"/>
            <a:ext cx="3017520" cy="548640"/>
          </a:xfrm>
          <a:prstGeom prst="rect">
            <a:avLst/>
          </a:prstGeom>
          <a:solidFill>
            <a:srgbClr val="DCE6F2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000000"/>
                </a:solidFill>
                <a:latin typeface="Times New Roman"/>
                <a:cs typeface="Times New Roman"/>
              </a:rPr>
              <a:t>Historical data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40480" y="4617720"/>
            <a:ext cx="822960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663440" y="2011680"/>
            <a:ext cx="2834640" cy="2788920"/>
          </a:xfrm>
          <a:prstGeom prst="rect">
            <a:avLst/>
          </a:prstGeom>
          <a:solidFill>
            <a:srgbClr val="4F81BD"/>
          </a:solidFill>
          <a:ln w="15875">
            <a:solidFill>
              <a:srgbClr val="4F8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ML Prediction Engine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7-Day Ahead Time-Series Model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Times New Roman"/>
              </a:rPr>
              <a:t>(Autoregressive &amp; Regression)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2011680"/>
            <a:ext cx="3017520" cy="548640"/>
          </a:xfrm>
          <a:prstGeom prst="rect">
            <a:avLst/>
          </a:prstGeom>
          <a:solidFill>
            <a:srgbClr val="DCE6F2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000000"/>
                </a:solidFill>
                <a:latin typeface="Times New Roman"/>
                <a:cs typeface="Times New Roman"/>
              </a:rPr>
              <a:t>Remaining water availability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0" y="3108960"/>
            <a:ext cx="3017520" cy="548640"/>
          </a:xfrm>
          <a:prstGeom prst="rect">
            <a:avLst/>
          </a:prstGeom>
          <a:solidFill>
            <a:srgbClr val="DCE6F2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000000"/>
                </a:solidFill>
                <a:latin typeface="Times New Roman"/>
                <a:cs typeface="Times New Roman"/>
              </a:rPr>
              <a:t>Forecast of time-to-dry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4206240"/>
            <a:ext cx="3017520" cy="59436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000000"/>
                </a:solidFill>
                <a:latin typeface="Times New Roman"/>
                <a:cs typeface="Times New Roman"/>
              </a:rPr>
              <a:t>Pump disconnect</a:t>
            </a:r>
          </a:p>
          <a:p>
            <a:pPr algn="ctr"/>
            <a:r>
              <a:rPr sz="1600" b="0">
                <a:solidFill>
                  <a:srgbClr val="000000"/>
                </a:solidFill>
                <a:latin typeface="Times New Roman"/>
                <a:cs typeface="Times New Roman"/>
              </a:rPr>
              <a:t>and SMS alert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498079" y="2286000"/>
            <a:ext cx="914401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498079" y="3383280"/>
            <a:ext cx="914401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921240" y="3657600"/>
            <a:ext cx="0" cy="54864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22960" y="5212080"/>
            <a:ext cx="106070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0" dirty="0">
                <a:solidFill>
                  <a:srgbClr val="000000"/>
                </a:solidFill>
                <a:latin typeface="Times New Roman"/>
                <a:cs typeface="Times New Roman"/>
              </a:rPr>
              <a:t>Continuous learning: prediction accuracy improves over time, with no fixed thresholds.</a:t>
            </a:r>
          </a:p>
        </p:txBody>
      </p:sp>
    </p:spTree>
    <p:extLst>
      <p:ext uri="{BB962C8B-B14F-4D97-AF65-F5344CB8AC3E}">
        <p14:creationId xmlns:p14="http://schemas.microsoft.com/office/powerpoint/2010/main" val="63813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95AF1-B807-AC15-9C1A-B86677AF6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324FF-B70A-2FC0-8FD0-C802E31DD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b="0" dirty="0">
                <a:latin typeface="Times New Roman"/>
                <a:cs typeface="Times New Roman"/>
              </a:rPr>
              <a:t>Continuously monitor water level and pump usage (pump status and usage time)</a:t>
            </a:r>
          </a:p>
          <a:p>
            <a:r>
              <a:rPr sz="2000" b="0" dirty="0">
                <a:latin typeface="Times New Roman"/>
                <a:cs typeface="Times New Roman"/>
              </a:rPr>
              <a:t>Store historical water-level and pump-usage data for model learning</a:t>
            </a:r>
          </a:p>
          <a:p>
            <a:r>
              <a:rPr sz="1800">
                <a:latin typeface="Times New Roman"/>
              </a:rPr>
              <a:t>Forecast remaining water availability and time-to-dry with a time-series ML model (Autoregressive Feature Engineering / Regression)</a:t>
            </a:r>
          </a:p>
          <a:p>
            <a:r>
              <a:rPr sz="2000" b="0" dirty="0">
                <a:latin typeface="Times New Roman"/>
                <a:cs typeface="Times New Roman"/>
              </a:rPr>
              <a:t>Learn borewell-specific extraction patterns over time, without fixed threshold values</a:t>
            </a:r>
          </a:p>
          <a:p>
            <a:r>
              <a:rPr sz="2000" b="0" dirty="0">
                <a:latin typeface="Times New Roman"/>
                <a:cs typeface="Times New Roman"/>
              </a:rPr>
              <a:t>Disconnect the pump automatically before dry-run conditions occur</a:t>
            </a:r>
          </a:p>
          <a:p>
            <a:r>
              <a:rPr sz="2000" b="0" dirty="0">
                <a:latin typeface="Times New Roman"/>
                <a:cs typeface="Times New Roman"/>
              </a:rPr>
              <a:t>Send an SMS alert along with the pump disconnect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0C9A0194-5820-F292-3A94-449C000E51A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Requirements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F25267-3005-EC45-A624-B78484DFA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14-10-2026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022FF-AD0C-E15E-5F17-B2827B554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SENSE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D6198-8B2C-26FB-53D2-A5B87C95A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12992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2F2ED-50F9-3DFA-95BB-1A1059C5D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F2560-A5FE-A724-8F39-E7E901E8F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b="1">
                <a:latin typeface="Times New Roman"/>
                <a:cs typeface="Times New Roman"/>
              </a:rPr>
              <a:t>Sense: </a:t>
            </a:r>
            <a:r>
              <a:rPr sz="2000" b="0">
                <a:latin typeface="Times New Roman"/>
                <a:cs typeface="Times New Roman"/>
              </a:rPr>
              <a:t>water level and pump usage are monitored continuously.</a:t>
            </a:r>
          </a:p>
          <a:p>
            <a:r>
              <a:rPr sz="2000" b="1">
                <a:latin typeface="Times New Roman"/>
                <a:cs typeface="Times New Roman"/>
              </a:rPr>
              <a:t>Learn: </a:t>
            </a:r>
            <a:r>
              <a:rPr sz="2000" b="0">
                <a:latin typeface="Times New Roman"/>
                <a:cs typeface="Times New Roman"/>
              </a:rPr>
              <a:t>a time-series ML model learns borewell-specific extraction patterns, pump usage duration and water-level behavior.</a:t>
            </a:r>
          </a:p>
          <a:p>
            <a:r>
              <a:rPr sz="1800">
                <a:latin typeface="Times New Roman"/>
              </a:rPr>
              <a:t>Forecast: the model accurately estimates 7-day-ahead groundwater level (0.27m MAE) and time-to-dry.</a:t>
            </a:r>
          </a:p>
          <a:p>
            <a:r>
              <a:rPr sz="2000" b="1">
                <a:latin typeface="Times New Roman"/>
                <a:cs typeface="Times New Roman"/>
              </a:rPr>
              <a:t>Protect: </a:t>
            </a:r>
            <a:r>
              <a:rPr sz="2000" b="0">
                <a:latin typeface="Times New Roman"/>
                <a:cs typeface="Times New Roman"/>
              </a:rPr>
              <a:t>the pump is disconnected automatically, giving less motor damage, less energy wastage and longer equipment life.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B27DA514-48FC-4BF4-8205-DE21D456C5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4A04E0-6631-130F-A154-C85D978EA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14-10-2026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15995-EDEB-C984-B852-1229C23B1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SENSE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F5109-389C-3E37-E553-A559233EF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9870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556E8-0003-02C5-D37D-A5CC4CE44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67973-736B-B05D-D378-DA7CBE3EBD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737360"/>
            <a:ext cx="6400800" cy="4206240"/>
          </a:xfrm>
        </p:spPr>
        <p:txBody>
          <a:bodyPr>
            <a:norm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Bench-top digital twin: a water tank and pump environment generating real sensor data (negative depth convention: -4m at 4m depth) for AI training and validation.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CGWB Bihar Telemetry Dataset: 3,783 observations from Khagaul I monitoring station (March 2023 – Dec 2025) reindexed onto an unbroken continuous daily calendar.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End-to-end pipeline demonstrated: real-time depth sensing, continuous feature engineering, AI-based 7-day forecasting, and automated proactive pump cutoff.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Enables rapid calibration and threshold-free predictive protection before field deployment in agricultural borewells.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E386D544-A80A-B599-44C7-B40BA6ECC6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Experiments and Results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376B32-FA12-4961-0DBF-EE57A770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14-10-2026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EF323-27AB-5372-4287-A24CA541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SENSE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AAC16-1233-230F-5D3B-645E6B28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0" y="3310128"/>
            <a:ext cx="2286000" cy="1536192"/>
          </a:xfrm>
          <a:prstGeom prst="rect">
            <a:avLst/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0" y="2286000"/>
            <a:ext cx="2286000" cy="2560320"/>
          </a:xfrm>
          <a:prstGeom prst="rect">
            <a:avLst/>
          </a:prstGeom>
          <a:noFill/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595360" y="2011680"/>
            <a:ext cx="640080" cy="274320"/>
          </a:xfrm>
          <a:prstGeom prst="rect">
            <a:avLst/>
          </a:prstGeom>
          <a:solidFill>
            <a:srgbClr val="00000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" name="Connector 9"/>
          <p:cNvCxnSpPr/>
          <p:nvPr/>
        </p:nvCxnSpPr>
        <p:spPr>
          <a:xfrm>
            <a:off x="8915400" y="2286000"/>
            <a:ext cx="0" cy="1298448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98079" y="1600200"/>
            <a:ext cx="28346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>
                <a:solidFill>
                  <a:srgbClr val="000000"/>
                </a:solidFill>
                <a:latin typeface="Times New Roman"/>
                <a:cs typeface="Times New Roman"/>
              </a:rPr>
              <a:t>Water level sensor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058400" y="4389120"/>
            <a:ext cx="731520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10789920" y="4069080"/>
            <a:ext cx="640080" cy="64008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61320" y="4800600"/>
            <a:ext cx="109728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>
                <a:solidFill>
                  <a:srgbClr val="000000"/>
                </a:solidFill>
                <a:latin typeface="Times New Roman"/>
                <a:cs typeface="Times New Roman"/>
              </a:rPr>
              <a:t>Pump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4937759"/>
            <a:ext cx="28346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>
                <a:solidFill>
                  <a:srgbClr val="000000"/>
                </a:solidFill>
                <a:latin typeface="Times New Roman"/>
                <a:cs typeface="Times New Roman"/>
              </a:rPr>
              <a:t>Bench-top water tank</a:t>
            </a:r>
          </a:p>
        </p:txBody>
      </p:sp>
    </p:spTree>
    <p:extLst>
      <p:ext uri="{BB962C8B-B14F-4D97-AF65-F5344CB8AC3E}">
        <p14:creationId xmlns:p14="http://schemas.microsoft.com/office/powerpoint/2010/main" val="36661888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49A39-F362-DB35-B5DF-7E322AB9C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F33DD-84F0-A7F9-A1DC-A4DEA1A7D8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Predictive vs Reactive: Successfully demonstrated proactive 7-day-ahead groundwater level forecasting, shifting borewell protection from reactive cutoff to anticipatory motor protection.</a:t>
            </a:r>
            <a:endParaRPr lang="en-GB" sz="2000" b="0" dirty="0">
              <a:latin typeface="Times New Roman"/>
              <a:cs typeface="Times New Roman"/>
            </a:endParaRP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High Model Precision: Linear regression achieved an operational forecasting accuracy of 0.27m (27 cm) MAE on held-out test data (+17.1% improvement over persistence baseline).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Motor &amp; Energy Protection: Proactive shutdown prevents dry-run cavitation, motor burnout, and unnecessary power consumption, significantly extending borewell pump lifespan.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Validated Hardware-Software Architecture: Direct compatibility between negative-depth sensor standard (-4m at 4m depth) and continuous telemetry models confirmed on digital twin.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000000"/>
                </a:solidFill>
                <a:latin typeface="Times New Roman"/>
              </a:rPr>
              <a:t>Sustainable Development Goals: Directly advances SDG 6.4 (water-use efficiency), SDG 2.4 (sustainable agricultural resilience), and SDG 7.3 (energy efficiency).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754A46F-4AC3-5AF1-0B78-C0B5112BD1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1BAA61-633E-E24B-7DEE-4B2A2B1FA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14-10-2026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3C553-2D0C-5A0A-39DC-21C43BD88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SENSE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7A7E9-45BE-62F4-D3A6-F19DC6ABE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100">
                <a:latin typeface="Times New Roman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317498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0E1A0-FA4A-8258-6E10-9F00EDC0B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7CFC0C65-61CC-E657-43F7-99C8E53624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0248" y="681037"/>
            <a:ext cx="10515600" cy="576696"/>
          </a:xfrm>
          <a:prstGeom prst="rect">
            <a:avLst/>
          </a:prstGeom>
        </p:spPr>
        <p:txBody>
          <a:bodyPr vert="horz" wrap="square" lIns="0" tIns="113919" rIns="0" bIns="0" rtlCol="0">
            <a:spAutoFit/>
          </a:bodyPr>
          <a:lstStyle/>
          <a:p>
            <a:pPr marL="486409">
              <a:lnSpc>
                <a:spcPct val="100000"/>
              </a:lnSpc>
              <a:spcBef>
                <a:spcPts val="130"/>
              </a:spcBef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CC4F09CD-956A-B8B3-1183-9C28C80DDB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5592" y="2181062"/>
            <a:ext cx="10515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32D3DB-7149-E1E5-D5F9-4FC93A788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 dirty="0"/>
              <a:t>14-10-2026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BCABB1-7C63-52E3-2815-3651AE7E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SENSE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1EAEC-BCE3-2979-69C6-273309B9F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sz="1100">
                <a:latin typeface="Times New Roman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1. Central Ground Water Board (CGWB), 'Groundwater Level Telemetry 6-Hourly Bihar Observations (2021–2025)', Ministry of Jal Shakti, Government of India, 2025.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2. Box, G. E., Jenkins, G. M., Reinsel, G. C., &amp; Ljung, G. M., 'Time Series Analysis: Forecasting and Control', 5th ed., John Wiley &amp; Sons, 2015.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3. Nayak, P. C., Satyaji Rao, Y. R., &amp; Sudheer, K. P., 'Groundwater Level Forecasting in a River Basin Using Machine Learning Techniques', Journal of Hydrology, Vol. 329, No. 3-4, pp. 733–744, 2006.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4. Bureau of Indian Standards (BIS), 'IS 8472: Agricultural Pumpsets and Motor Protection Requirements', BIS Standards Guidelines, New Delhi, 2018.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000000"/>
                </a:solidFill>
                <a:latin typeface="Times New Roman"/>
              </a:rPr>
              <a:t>5. Food and Agriculture Organization (FAO), 'Coping with Water Scarcity in Agriculture: A Global Framework for Action in a Changing Climate', FAO Water Reports, 2021.</a:t>
            </a:r>
          </a:p>
        </p:txBody>
      </p:sp>
    </p:spTree>
    <p:extLst>
      <p:ext uri="{BB962C8B-B14F-4D97-AF65-F5344CB8AC3E}">
        <p14:creationId xmlns:p14="http://schemas.microsoft.com/office/powerpoint/2010/main" val="3510526248"/>
      </p:ext>
    </p:extLst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48640"/>
            <a:ext cx="10972800" cy="640080"/>
          </a:xfrm>
        </p:spPr>
        <p:txBody>
          <a:bodyPr/>
          <a:lstStyle/>
          <a:p>
            <a:pPr algn="l"/>
            <a:r>
              <a:rPr sz="3000" b="1">
                <a:solidFill>
                  <a:srgbClr val="000000"/>
                </a:solidFill>
                <a:latin typeface="Times New Roman"/>
              </a:rPr>
              <a:t>Experiments and Results: Model Accuracy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63093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46464"/>
                </a:solidFill>
                <a:latin typeface="Times New Roman"/>
              </a:rPr>
              <a:t>14-10-2026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630936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646464"/>
                </a:solidFill>
                <a:latin typeface="Times New Roman"/>
              </a:rPr>
              <a:t>SENSE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646464"/>
                </a:solidFill>
                <a:latin typeface="Times New Roman"/>
              </a:rPr>
              <a:t>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71600"/>
          <a:ext cx="62179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005840"/>
                <a:gridCol w="1005840"/>
                <a:gridCol w="1005840"/>
                <a:gridCol w="1188720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Times New Roman"/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Times New Roman"/>
                        </a:rPr>
                        <a:t>Test 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Times New Roman"/>
                        </a:rPr>
                        <a:t>Test 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Times New Roman"/>
                        </a:rPr>
                        <a:t>vs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00000"/>
                          </a:solidFill>
                          <a:latin typeface="Times New Roman"/>
                        </a:rPr>
                        <a:t>Status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Naive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0.326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0.429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Benchmark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5000"/>
                          </a:solidFill>
                          <a:latin typeface="Times New Roman"/>
                        </a:rPr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5000"/>
                          </a:solidFill>
                          <a:latin typeface="Times New Roman"/>
                        </a:rPr>
                        <a:t>0.271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5000"/>
                          </a:solidFill>
                          <a:latin typeface="Times New Roman"/>
                        </a:rPr>
                        <a:t>0.383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5000"/>
                          </a:solidFill>
                          <a:latin typeface="Times New Roman"/>
                        </a:rPr>
                        <a:t>+17.1% 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5000"/>
                          </a:solidFill>
                          <a:latin typeface="Times New Roman"/>
                        </a:rPr>
                        <a:t>Best Model 🏆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1.947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2.003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-496.3%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Leaf ceiling limited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1.934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2.001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-492.4%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Times New Roman"/>
                        </a:rPr>
                        <a:t>Leaf ceiling limited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3566160"/>
            <a:ext cx="6217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E1E1E"/>
                </a:solidFill>
                <a:latin typeface="Times New Roman"/>
              </a:rPr>
              <a:t>• Strict 7-Day Purged Split: Zero target leakage between train, validation, and test partitions.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E1E1E"/>
                </a:solidFill>
                <a:latin typeface="Times New Roman"/>
              </a:rPr>
              <a:t>• Superior Accuracy: Linear Regression achieved 0.27m (~27 cm) MAE, outperforming baseline by 17.1%.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E1E1E"/>
                </a:solidFill>
                <a:latin typeface="Times New Roman"/>
              </a:rPr>
              <a:t>• Tree Extrapolation Ceiling: Random Forest failed on test data because decision trees cannot predict beyond the training target range ([-13.8m, -7.4m]); when late 2025 water levels rose to -4.9m, trees hit their ceiling at -7.0m, while Linear Regression extrapolated smoothly.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E1E1E"/>
                </a:solidFill>
                <a:latin typeface="Times New Roman"/>
              </a:rPr>
              <a:t>• Operational 7-Day Forecast: From latest Dec 31 reading (-7.55m), predicts -8.01m on Jan 7, 2026.</a:t>
            </a:r>
          </a:p>
        </p:txBody>
      </p:sp>
      <p:pic>
        <p:nvPicPr>
          <p:cNvPr id="8" name="Picture 7" descr="06_seven_day_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4937760" cy="213221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818</Words>
  <Application>Microsoft Office PowerPoint</Application>
  <PresentationFormat>Widescreen</PresentationFormat>
  <Paragraphs>123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 Theme</vt:lpstr>
      <vt:lpstr>Programme -B.Tech  BECE497J– Project - I  AI-Based Predictive Groundwater Monitoring and Intelligent Pump Protection System for Agricultural Borewells </vt:lpstr>
      <vt:lpstr>Approval Mail From Guide</vt:lpstr>
      <vt:lpstr>Aim</vt:lpstr>
      <vt:lpstr>Abstract</vt:lpstr>
      <vt:lpstr>Literature Review</vt:lpstr>
      <vt:lpstr>Research Gap</vt:lpstr>
      <vt:lpstr>Objectives</vt:lpstr>
      <vt:lpstr>Framework/Architecture/Block Diagram</vt:lpstr>
      <vt:lpstr>Functional Requirements</vt:lpstr>
      <vt:lpstr>Modules</vt:lpstr>
      <vt:lpstr>Experiments and Results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Programme -B.Tech  BECE497J– Project - I  AI-Based Predictive Groundwater Monitoring and Intelligent Pump Protection System for Agricultural Borewells </dc:title>
  <dc:creator>Parthasarathy G</dc:creator>
  <cp:lastModifiedBy>ASUS</cp:lastModifiedBy>
  <cp:revision>9</cp:revision>
  <dcterms:created xsi:type="dcterms:W3CDTF">2026-07-14T06:00:41Z</dcterms:created>
  <dcterms:modified xsi:type="dcterms:W3CDTF">2026-10-12T17:19:15Z</dcterms:modified>
</cp:coreProperties>
</file>